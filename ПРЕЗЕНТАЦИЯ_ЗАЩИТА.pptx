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ПРЕЗЕНТАЦИЯ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Анализ и оптимизация бизнес-процессов Space Travel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Версия:</a:t>
            </a:r>
            <a:r>
              <a:rPr/>
              <a:t> 4.0 | </a:t>
            </a:r>
            <a:r>
              <a:rPr b="1"/>
              <a:t>Дата:</a:t>
            </a:r>
            <a:r>
              <a:rPr/>
              <a:t> 22 февраля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1: Титульный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Анализ и оптимизация бизнес-процессов туроператора Space Travel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Программа автоматизации на основе данных анкет сотрудников</a:t>
            </a:r>
          </a:p>
          <a:p>
            <a:pPr lvl="0" indent="0" marL="0">
              <a:buNone/>
            </a:pPr>
            <a:r>
              <a:rPr/>
              <a:t>22 февраля 2026 г.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2: О компании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Space Travel в цифрах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Источник данных:</a:t>
            </a:r>
            <a:r>
              <a:rPr/>
              <a:t> Анкеты L1 (9 директоров), организационная структура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Департаментов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Сотрудников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Региональных офисов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городов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IT-систем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Интеграций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Основные направления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Направление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Сотрудников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Агентские продажи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Операционная деятельность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Корпоративные мероприятия и обслуживание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3: Цель проекта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Что мы сделали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Провели комплексный анализ</a:t>
            </a:r>
            <a:r>
              <a:rPr/>
              <a:t> бизнес-процессов на основе </a:t>
            </a:r>
            <a:r>
              <a:rPr b="1"/>
              <a:t>объективных данных</a:t>
            </a:r>
            <a:r>
              <a:rPr/>
              <a:t> из анкет сотрудников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Источники данных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Уровень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Анкет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Директора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Руководители департаментов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Руководители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Начальники отделов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Исполнители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Специалисты, операторы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ИТОГО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196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4: Методология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Объективный подход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Формула расчёта</a:t>
            </a:r>
          </a:p>
          <a:p>
            <a:pPr lvl="0" indent="0">
              <a:buNone/>
            </a:pPr>
            <a:r>
              <a:rPr>
                <a:latin typeface="Courier"/>
              </a:rPr>
              <a:t>Часы/месяц = время_выполнения × частота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Что мы измерили</a:t>
            </a:r>
          </a:p>
          <a:p>
            <a:pPr lvl="0" indent="0" marL="0">
              <a:buNone/>
            </a:pPr>
            <a:r>
              <a:rPr b="1"/>
              <a:t>Источник данных:</a:t>
            </a:r>
            <a:r>
              <a:rPr/>
              <a:t> Анкеты L3 (150 исполнителей), файл </a:t>
            </a:r>
            <a:r>
              <a:rPr>
                <a:latin typeface="Courier"/>
              </a:rPr>
              <a:t>automation/4.2_L3_objective_calculation.json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Задач описано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1 533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Вся работа компании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30 593 ч/мес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Штатных единиц</a:t>
                      </a:r>
                      <a:r>
                        <a:rPr/>
                        <a:t>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174 сотрудника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*Штатная единица = 176 рабочих часов в месяц</a:t>
            </a:r>
          </a:p>
          <a:p>
            <a:pPr lvl="0" indent="0" marL="1270000">
              <a:buNone/>
            </a:pPr>
            <a:r>
              <a:rPr sz="2000"/>
              <a:t>Все расчёты основаны </a:t>
            </a:r>
            <a:r>
              <a:rPr sz="2000" b="1"/>
              <a:t>только на данных анкет</a:t>
            </a:r>
            <a:r>
              <a:rPr sz="2000"/>
              <a:t> — без экспертных оценок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5: Что теряет компания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58% рабочего времени — рутина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Источник данных:</a:t>
            </a:r>
            <a:r>
              <a:rPr/>
              <a:t> Анкеты L3 (150 исполнителей)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Уровень рутины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Время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Штат. ед.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%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Очень высокий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7 445 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Высокий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10 432 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Средний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9 075 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Низкий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3 639 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Вывод</a:t>
            </a:r>
          </a:p>
          <a:p>
            <a:pPr lvl="0" indent="0" marL="0">
              <a:buNone/>
            </a:pPr>
            <a:r>
              <a:rPr b="1"/>
              <a:t>102 сотрудника</a:t>
            </a:r>
            <a:r>
              <a:rPr/>
              <a:t> (из 174) заняты работой, которую можно автоматизировать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6: 64 точки автоматизации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Выявленный потенциал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Источник данных:</a:t>
            </a:r>
            <a:r>
              <a:rPr/>
              <a:t> Анкеты L2 (37 руководителей) </a:t>
            </a:r>
            <a:r>
              <a:rPr b="1"/>
              <a:t>Расчёт экономии:</a:t>
            </a:r>
            <a:r>
              <a:rPr/>
              <a:t> Дифференцированные ставки L1/L2/L3 (HR-директор Жигалина Ю.А.)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Точек автоматизации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Чистая экономия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1 272 ч/мес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Экономия в год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~13,9 млн руб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 категориям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Категория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Точек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Экономия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Рутина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714 ч/мес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Узкие места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387 ч/мес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Интеграция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188 ч/мес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7: Связь целей и автоматизации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директора → Задача руководителя → Функция исполнителя → Автоматизация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Примеры</a:t>
            </a:r>
          </a:p>
          <a:p>
            <a:pPr lvl="0" indent="0" marL="0">
              <a:buNone/>
            </a:pPr>
            <a:r>
              <a:rPr b="1"/>
              <a:t>Источник данных:</a:t>
            </a:r>
            <a:r>
              <a:rPr/>
              <a:t> Анкеты L1 (директора), привязка AUTO к целям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Департамент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Цель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Инициативы автоматизации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Агентства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Выручка +15%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АВТО-043, 044, 046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Операционный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Время -25%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АВТО-001, 009, 025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Финансы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Точность 99%+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АВТО-005, 031, 014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Каждая точка автоматизации привязана к бизнес-цели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8: Топ-5 быстрых побед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Волна 1 — быстрые результаты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Источник данных:</a:t>
            </a:r>
            <a:r>
              <a:rPr/>
              <a:t> Анкеты L2 (руководители)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"/>
                <a:gridCol w="2184400"/>
                <a:gridCol w="10922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Инициатива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Было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Стало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Шаблоны коммерческих предложений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 нуля в Excel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Из САМО за 5 мин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Алерты САМО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Ручная проверка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Автоуведомления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ИИ-контент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ч на баннер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мин (нейросеть)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Email-рассылки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Копипаст цен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Автоподстановка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Маршрутизация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мин/заявку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Автоматически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Общая экономия:</a:t>
            </a:r>
            <a:r>
              <a:rPr/>
              <a:t> ~500 ч/мес (ставка L3=595 руб/ч)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9: Финансовый эффект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Экономия и инвестиции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Экономия</a:t>
            </a:r>
          </a:p>
          <a:p>
            <a:pPr lvl="0" indent="0" marL="0">
              <a:buNone/>
            </a:pPr>
            <a:r>
              <a:rPr b="1"/>
              <a:t>Источник расчёта:</a:t>
            </a:r>
            <a:r>
              <a:rPr/>
              <a:t> Дифференцированные ставки L1=1 786, L2=1 190, L3=595 руб/ч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Экономия времени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1 272 ч/мес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Экономия в год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15 264 ч/год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В деньгах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~13,9 млн руб/год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Инвестиции</a:t>
            </a:r>
          </a:p>
          <a:p>
            <a:pPr lvl="0" indent="0" marL="1270000">
              <a:buNone/>
            </a:pPr>
            <a:r>
              <a:rPr sz="2000"/>
              <a:t>Стоимость будет уточнена по коммерческим предложениям подрядчиков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Волна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Оценка затрат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Волна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 тыс – 2 млн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Волна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– 3 млн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Волна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– 15 млн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10: 13 технических заданий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Технические задания разработаны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Источник данных:</a:t>
            </a:r>
            <a:r>
              <a:rPr/>
              <a:t> Файлы </a:t>
            </a:r>
            <a:r>
              <a:rPr>
                <a:latin typeface="Courier"/>
              </a:rPr>
              <a:t>tz/TZ_01...TZ_13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/>
                <a:gridCol w="1155700"/>
                <a:gridCol w="1485900"/>
                <a:gridCol w="1981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Волна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Задания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Инструмент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Волна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ТЗ-01…ТЗ-08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Платформа интеграций, Битрикс24, аналитика Power BI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Волна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ТЗ-09…ТЗ-11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Power BI, n8n, Битрикс24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Волна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ТЗ-12, ТЗ-13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Роботизация процессов, машинное обучение (тендер)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Файлы готовы к передаче подрядчикам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Файл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tz/TZ_01_SAMO_Bitrix.md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tz/TZ_13_Dynamic_Pricing.md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11: Дорожная карта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План внедрения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Источник:</a:t>
            </a:r>
            <a:r>
              <a:rPr/>
              <a:t> Дорожная карта (файл </a:t>
            </a:r>
            <a:r>
              <a:rPr>
                <a:latin typeface="Courier"/>
              </a:rPr>
              <a:t>tz/4.4_automation_roadmap.md</a:t>
            </a:r>
            <a:r>
              <a:rPr/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1 кв. 2026:  [Подготовка] → [Волна 1 начало]
2 кв. 2026:  [Волна 1 завершение] → [Волна 2 начало]
3 кв. 2026:  [Волна 2 завершение] → [Волна 3 начало]
4 кв. 2026:  [Волна 3 завершение] → [Оценка эффекта]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Первые шаги (немедленно)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Действие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Кто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П-01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Аудит программного интерфейса САМО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П-02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Закупка Power BI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Назначить менеджера проекта автоматизации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Ген. директор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12: Риски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Открытые риски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Источник данных:</a:t>
            </a:r>
            <a:r>
              <a:rPr/>
              <a:t> Анкеты L1 (директора), L2 (руководители), анализ IT-ландшафта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"/>
                <a:gridCol w="1181100"/>
                <a:gridCol w="1765300"/>
                <a:gridCol w="157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Влияние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Статус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Вакансия директора по маркетингу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Нет стратегии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🟠 И.о. назначен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Тайм-лимиты ~15%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Потеря брони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🔴 КРИТИЧНО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Программный интерфейс САМО не проверен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Риск для ТЗ-01,03,06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🟠 Требует П-01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Меры снижения рисков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17018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Решение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Тайм-лимиты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ТЗ-09</a:t>
                      </a:r>
                      <a:r>
                        <a:rPr/>
                        <a:t> — панель мониторинга тайм-лимитов (критический)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 САМО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П-01</a:t>
                      </a:r>
                      <a:r>
                        <a:rPr/>
                        <a:t> — аудит программного интерфейса с резервным планом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13: Регламенты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69 регламентов подготовлены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Источник данных:</a:t>
            </a:r>
            <a:r>
              <a:rPr/>
              <a:t> Файл </a:t>
            </a:r>
            <a:r>
              <a:rPr>
                <a:latin typeface="Courier"/>
              </a:rPr>
              <a:t>processes/5.0_regulations_registry.md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Процесс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Регламентов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БП-01: От заявки до оплаты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БП-02: Маркетинг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БП-03: Корпоративные мероприятия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БП-04: Финансы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БП-05: Турпродукт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БП-06: Поддержка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БП-07: Агентская сеть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БП-08: HR, IT, Администрирование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Оптимизация:</a:t>
            </a:r>
            <a:r>
              <a:rPr sz="2000"/>
              <a:t> 140 → 69 регламентов (−51%)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14: Следующие шаги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Что нужно сделать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Немедленно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Действие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Кто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Назначить менеджера проекта автоматизации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Ген. директор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Запустить П-01 (программный интерфейс САМО)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Закупить Power BI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1-2 кварталы 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Действие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Кто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Внедрить ТЗ-09 (тайм-лимиты)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Менеджер проекта + 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Начать ТЗ-07 (Power BI)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Менеджер проекта + Финансы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Запустить тендер на ТЗ-12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Менеджер проекта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15: Итоги и контакты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Что получит компания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Источник расчёта:</a:t>
            </a:r>
            <a:r>
              <a:rPr/>
              <a:t> Дифференцированные ставки L1/L2/L3 (HR-директор Жигалина Ю.А.)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Экономия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~13,9 млн руб/год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Высвобождение сотрудников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~7 штатных единиц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Снижение рисков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Тайм-лимиты, финансы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Повышение качества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Индекс лояльности, скорость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Документы переданы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Документ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Статус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Финальный отчёт (25 страниц)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 технических заданий (файлы Markdown)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69 регламентов (реестр)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Дорожная карта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Спасибо за внимание!</a:t>
            </a:r>
          </a:p>
          <a:p>
            <a:pPr lvl="0" indent="0" marL="0">
              <a:buNone/>
            </a:pPr>
            <a:r>
              <a:rPr i="1"/>
              <a:t>Вопросы?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Документ подготовлен: 22 февраля 2026 г.</a:t>
            </a:r>
            <a:r>
              <a:rPr/>
              <a:t> </a:t>
            </a:r>
            <a:r>
              <a:rPr i="1"/>
              <a:t>Версия: 4.0</a:t>
            </a:r>
            <a:r>
              <a:rPr/>
              <a:t> </a:t>
            </a:r>
            <a:r>
              <a:rPr i="1"/>
              <a:t>Полный отчёт: ФИНАЛЬНЫЙ_ОТЧЁТ_ЗАЩИТА.md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Изменения в версии 4.0:</a:t>
            </a:r>
            <a:r>
              <a:rPr/>
              <a:t> - Добавлена нумерация во все таблицы и списки - Указаны источники данных для всех расчётов - Указаны ставки (L1/L2/L3) для всех расчётов экономии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2026-02-22T18:29:48Z</dcterms:created>
  <dcterms:modified xsi:type="dcterms:W3CDTF">2026-02-22T18:29:48Z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